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84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spPr>
            <a:solidFill>
              <a:srgbClr val="1C3557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C35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95D-314E-B470-52F35FD167BB}"/>
              </c:ext>
            </c:extLst>
          </c:dPt>
          <c:dPt>
            <c:idx val="1"/>
            <c:invertIfNegative val="0"/>
            <c:bubble3D val="0"/>
            <c:spPr>
              <a:solidFill>
                <a:srgbClr val="2A4F7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95D-314E-B470-52F35FD167BB}"/>
              </c:ext>
            </c:extLst>
          </c:dPt>
          <c:dPt>
            <c:idx val="2"/>
            <c:invertIfNegative val="0"/>
            <c:bubble3D val="0"/>
            <c:spPr>
              <a:solidFill>
                <a:srgbClr val="C8511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95D-314E-B470-52F35FD167BB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53.9%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95D-314E-B470-52F35FD167B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34.9%</a:t>
                    </a:r>
                  </a:p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95D-314E-B470-52F35FD167B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11.2%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95D-314E-B470-52F35FD167B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Not Readmitted</c:v>
                </c:pt>
                <c:pt idx="1">
                  <c:v>Readmitted  &gt; 30 Days</c:v>
                </c:pt>
                <c:pt idx="2">
                  <c:v>HIGH RISK  &lt; 30 Days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53.9</c:v>
                </c:pt>
                <c:pt idx="1">
                  <c:v>34.9</c:v>
                </c:pt>
                <c:pt idx="2">
                  <c:v>11.2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95D-314E-B470-52F35FD167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DA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A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2A"/>
                </a:solidFill>
                <a:latin typeface="Arial"/>
              </a:rPr>
              <a:t>Race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849-DB4D-8A9D-42F82BCE2DF8}"/>
              </c:ext>
            </c:extLst>
          </c:dPt>
          <c:dPt>
            <c:idx val="1"/>
            <c:bubble3D val="0"/>
            <c:spPr>
              <a:solidFill>
                <a:srgbClr val="2A4F7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849-DB4D-8A9D-42F82BCE2DF8}"/>
              </c:ext>
            </c:extLst>
          </c:dPt>
          <c:dPt>
            <c:idx val="2"/>
            <c:bubble3D val="0"/>
            <c:spPr>
              <a:solidFill>
                <a:srgbClr val="F2C9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849-DB4D-8A9D-42F82BCE2DF8}"/>
              </c:ext>
            </c:extLst>
          </c:dPt>
          <c:dPt>
            <c:idx val="3"/>
            <c:bubble3D val="0"/>
            <c:spPr>
              <a:solidFill>
                <a:srgbClr val="C8511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849-DB4D-8A9D-42F82BCE2DF8}"/>
              </c:ext>
            </c:extLst>
          </c:dPt>
          <c:dPt>
            <c:idx val="4"/>
            <c:bubble3D val="0"/>
            <c:spPr>
              <a:solidFill>
                <a:srgbClr val="F2EFE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849-DB4D-8A9D-42F82BCE2DF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849-DB4D-8A9D-42F82BCE2DF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849-DB4D-8A9D-42F82BCE2DF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849-DB4D-8A9D-42F82BCE2DF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849-DB4D-8A9D-42F82BCE2DF8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849-DB4D-8A9D-42F82BCE2DF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Caucasian</c:v>
                </c:pt>
                <c:pt idx="1">
                  <c:v>African American</c:v>
                </c:pt>
                <c:pt idx="2">
                  <c:v>Hispanic</c:v>
                </c:pt>
                <c:pt idx="3">
                  <c:v>Other</c:v>
                </c:pt>
                <c:pt idx="4">
                  <c:v>Asian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</c:v>
                </c:pt>
                <c:pt idx="1">
                  <c:v>19</c:v>
                </c:pt>
                <c:pt idx="2">
                  <c:v>2.5</c:v>
                </c:pt>
                <c:pt idx="3">
                  <c:v>2</c:v>
                </c:pt>
                <c:pt idx="4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849-DB4D-8A9D-42F82BCE2D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2A"/>
                </a:solidFill>
                <a:latin typeface="Arial"/>
              </a:rPr>
              <a:t>30-day readmission rate (%) by age group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&lt;30 Day Rate (%)</c:v>
                </c:pt>
              </c:strCache>
            </c:strRef>
          </c:tx>
          <c:spPr>
            <a:ln w="31750" cap="flat">
              <a:solidFill>
                <a:srgbClr val="0D1B2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1B2A"/>
              </a:solidFill>
              <a:ln w="9525" cap="flat">
                <a:solidFill>
                  <a:srgbClr val="0D1B2A"/>
                </a:solidFill>
                <a:prstDash val="solid"/>
                <a:round/>
              </a:ln>
              <a:effectLst/>
            </c:spPr>
          </c:marker>
          <c:dLbls>
            <c:dLbl>
              <c:idx val="2"/>
              <c:layout>
                <c:manualLayout>
                  <c:x val="0"/>
                  <c:y val="2.732240437158469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55-B145-B323-E5FA6F6A4C0F}"/>
                </c:ext>
              </c:extLst>
            </c:dLbl>
            <c:dLbl>
              <c:idx val="3"/>
              <c:layout>
                <c:manualLayout>
                  <c:x val="0"/>
                  <c:y val="-3.64298724954462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455-B145-B323-E5FA6F6A4C0F}"/>
                </c:ext>
              </c:extLst>
            </c:dLbl>
            <c:dLbl>
              <c:idx val="4"/>
              <c:layout>
                <c:manualLayout>
                  <c:x val="0"/>
                  <c:y val="-5.00910746812386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455-B145-B323-E5FA6F6A4C0F}"/>
                </c:ext>
              </c:extLst>
            </c:dLbl>
            <c:dLbl>
              <c:idx val="6"/>
              <c:layout>
                <c:manualLayout>
                  <c:x val="-2.7394258163489938E-3"/>
                  <c:y val="2.27686703096538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455-B145-B323-E5FA6F6A4C0F}"/>
                </c:ext>
              </c:extLst>
            </c:dLbl>
            <c:dLbl>
              <c:idx val="7"/>
              <c:layout>
                <c:manualLayout>
                  <c:x val="0"/>
                  <c:y val="2.732240437158469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455-B145-B323-E5FA6F6A4C0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0–10</c:v>
                </c:pt>
                <c:pt idx="1">
                  <c:v>10–20</c:v>
                </c:pt>
                <c:pt idx="2">
                  <c:v>20–30</c:v>
                </c:pt>
                <c:pt idx="3">
                  <c:v>30–40</c:v>
                </c:pt>
                <c:pt idx="4">
                  <c:v>40–50</c:v>
                </c:pt>
                <c:pt idx="5">
                  <c:v>50–60</c:v>
                </c:pt>
                <c:pt idx="6">
                  <c:v>60–70</c:v>
                </c:pt>
                <c:pt idx="7">
                  <c:v>70–80</c:v>
                </c:pt>
                <c:pt idx="8">
                  <c:v>80–90</c:v>
                </c:pt>
                <c:pt idx="9">
                  <c:v>90–100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2.17</c:v>
                </c:pt>
                <c:pt idx="1">
                  <c:v>8.0399999999999991</c:v>
                </c:pt>
                <c:pt idx="2">
                  <c:v>9.89</c:v>
                </c:pt>
                <c:pt idx="3">
                  <c:v>11.07</c:v>
                </c:pt>
                <c:pt idx="4">
                  <c:v>10.87</c:v>
                </c:pt>
                <c:pt idx="5">
                  <c:v>9.3000000000000007</c:v>
                </c:pt>
                <c:pt idx="6">
                  <c:v>11.05</c:v>
                </c:pt>
                <c:pt idx="7">
                  <c:v>12.11</c:v>
                </c:pt>
                <c:pt idx="8">
                  <c:v>13.42</c:v>
                </c:pt>
                <c:pt idx="9">
                  <c:v>8.51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455-B145-B323-E5FA6F6A4C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6A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DA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A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1B2A"/>
                </a:solidFill>
                <a:latin typeface="Arial"/>
              </a:rPr>
              <a:t>Medication change during stay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1C355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9C8-6440-8130-0376BDA5ED10}"/>
              </c:ext>
            </c:extLst>
          </c:dPt>
          <c:dPt>
            <c:idx val="1"/>
            <c:invertIfNegative val="0"/>
            <c:bubble3D val="0"/>
            <c:spPr>
              <a:solidFill>
                <a:srgbClr val="C8511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9C8-6440-8130-0376BDA5ED1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change</c:v>
                </c:pt>
                <c:pt idx="1">
                  <c:v>Med changed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</c:v>
                </c:pt>
                <c:pt idx="1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9C8-6440-8130-0376BDA5ED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DA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A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1B2A"/>
                </a:solidFill>
                <a:latin typeface="Arial"/>
              </a:rPr>
              <a:t>Primary diagnosis categories (ICD-9)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Encounters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DD0-4940-AEB9-DADA3111E74E}"/>
              </c:ext>
            </c:extLst>
          </c:dPt>
          <c:dPt>
            <c:idx val="1"/>
            <c:invertIfNegative val="0"/>
            <c:bubble3D val="0"/>
            <c:spPr>
              <a:solidFill>
                <a:srgbClr val="1C35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DD0-4940-AEB9-DADA3111E74E}"/>
              </c:ext>
            </c:extLst>
          </c:dPt>
          <c:dPt>
            <c:idx val="2"/>
            <c:invertIfNegative val="0"/>
            <c:bubble3D val="0"/>
            <c:spPr>
              <a:solidFill>
                <a:srgbClr val="2A4F7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DD0-4940-AEB9-DADA3111E74E}"/>
              </c:ext>
            </c:extLst>
          </c:dPt>
          <c:dPt>
            <c:idx val="3"/>
            <c:invertIfNegative val="0"/>
            <c:bubble3D val="0"/>
            <c:spPr>
              <a:solidFill>
                <a:srgbClr val="C8511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DD0-4940-AEB9-DADA3111E74E}"/>
              </c:ext>
            </c:extLst>
          </c:dPt>
          <c:dPt>
            <c:idx val="4"/>
            <c:invertIfNegative val="0"/>
            <c:bubble3D val="0"/>
            <c:spPr>
              <a:solidFill>
                <a:srgbClr val="1C35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DD0-4940-AEB9-DADA3111E74E}"/>
              </c:ext>
            </c:extLst>
          </c:dPt>
          <c:dPt>
            <c:idx val="5"/>
            <c:invertIfNegative val="0"/>
            <c:bubble3D val="0"/>
            <c:spPr>
              <a:solidFill>
                <a:srgbClr val="2A4F7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DD0-4940-AEB9-DADA3111E74E}"/>
              </c:ext>
            </c:extLst>
          </c:dPt>
          <c:dPt>
            <c:idx val="6"/>
            <c:invertIfNegative val="0"/>
            <c:bubble3D val="0"/>
            <c:spPr>
              <a:solidFill>
                <a:srgbClr val="6E6A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DD0-4940-AEB9-DADA3111E74E}"/>
              </c:ext>
            </c:extLst>
          </c:dPt>
          <c:dPt>
            <c:idx val="7"/>
            <c:invertIfNegative val="0"/>
            <c:bubble3D val="0"/>
            <c:spPr>
              <a:solidFill>
                <a:srgbClr val="6E6A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DD0-4940-AEB9-DADA3111E74E}"/>
              </c:ext>
            </c:extLst>
          </c:dPt>
          <c:cat>
            <c:strRef>
              <c:f>Sheet1!$A$2:$A$9</c:f>
              <c:strCache>
                <c:ptCount val="8"/>
                <c:pt idx="0">
                  <c:v>Circulatory</c:v>
                </c:pt>
                <c:pt idx="1">
                  <c:v>Other</c:v>
                </c:pt>
                <c:pt idx="2">
                  <c:v>Respiratory</c:v>
                </c:pt>
                <c:pt idx="3">
                  <c:v>Diabetes</c:v>
                </c:pt>
                <c:pt idx="4">
                  <c:v>Digestive</c:v>
                </c:pt>
                <c:pt idx="5">
                  <c:v>Injury</c:v>
                </c:pt>
                <c:pt idx="6">
                  <c:v>Musculoskeletal</c:v>
                </c:pt>
                <c:pt idx="7">
                  <c:v>Genitourinary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1650</c:v>
                </c:pt>
                <c:pt idx="1">
                  <c:v>980</c:v>
                </c:pt>
                <c:pt idx="2">
                  <c:v>720</c:v>
                </c:pt>
                <c:pt idx="3">
                  <c:v>430</c:v>
                </c:pt>
                <c:pt idx="4">
                  <c:v>380</c:v>
                </c:pt>
                <c:pt idx="5">
                  <c:v>280</c:v>
                </c:pt>
                <c:pt idx="6">
                  <c:v>210</c:v>
                </c:pt>
                <c:pt idx="7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6DD0-4940-AEB9-DADA3111E7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DA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A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861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2377440"/>
          </a:xfrm>
          <a:prstGeom prst="rect">
            <a:avLst/>
          </a:prstGeom>
          <a:solidFill>
            <a:srgbClr val="C8511B"/>
          </a:solidFill>
          <a:ln w="12700">
            <a:solidFill>
              <a:srgbClr val="C85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309360" y="16459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5,535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309360" y="8046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675120" y="1133856"/>
            <a:ext cx="2011680" cy="20117"/>
          </a:xfrm>
          <a:prstGeom prst="rect">
            <a:avLst/>
          </a:prstGeom>
          <a:solidFill>
            <a:srgbClr val="FFCCAA"/>
          </a:solidFill>
          <a:ln w="12700">
            <a:solidFill>
              <a:srgbClr val="FFCC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09360" y="122529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 features  ·  5,424 after cleaning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256032"/>
            <a:ext cx="5486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i="1" dirty="0">
                <a:solidFill>
                  <a:srgbClr val="F2C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5760" y="969264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Readmission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502920" y="2724912"/>
            <a:ext cx="5303520" cy="20117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8346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·  ReadmitGuard Analytics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0416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ReadmitGuard Analytics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4434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Capstone  ·  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413308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2377440" cy="754380"/>
          </a:xfrm>
          <a:prstGeom prst="rect">
            <a:avLst/>
          </a:prstGeom>
          <a:solidFill>
            <a:srgbClr val="C8511B"/>
          </a:solidFill>
          <a:ln w="12700">
            <a:solidFill>
              <a:srgbClr val="C85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" y="27432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C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" y="77724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C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" y="128016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Data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" y="178308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82880" y="2487168"/>
            <a:ext cx="1920240" cy="20117"/>
          </a:xfrm>
          <a:prstGeom prst="rect">
            <a:avLst/>
          </a:prstGeom>
          <a:solidFill>
            <a:srgbClr val="4A6E96"/>
          </a:solidFill>
          <a:ln w="12700">
            <a:solidFill>
              <a:srgbClr val="4A6E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" y="2633472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C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5,535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" y="2926080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" y="3136392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C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5,424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" y="3429000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" y="3639312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C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" y="3931920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columns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" y="4462272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Phase  · 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25603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value decisions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2606040" y="713232"/>
            <a:ext cx="6217920" cy="20117"/>
          </a:xfrm>
          <a:prstGeom prst="rect">
            <a:avLst/>
          </a:prstGeom>
          <a:solidFill>
            <a:srgbClr val="C8511B"/>
          </a:solidFill>
          <a:ln w="12700">
            <a:solidFill>
              <a:srgbClr val="C85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606040" y="786384"/>
            <a:ext cx="6263640" cy="438912"/>
          </a:xfrm>
          <a:prstGeom prst="rect">
            <a:avLst/>
          </a:prstGeom>
          <a:solidFill>
            <a:srgbClr val="0D1B2A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06624" y="850392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85232" y="8503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36208" y="85039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606040" y="1261872"/>
            <a:ext cx="6263640" cy="438912"/>
          </a:xfrm>
          <a:prstGeom prst="rect">
            <a:avLst/>
          </a:prstGeom>
          <a:solidFill>
            <a:srgbClr val="F2EFE6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606040" y="1261872"/>
            <a:ext cx="36576" cy="438912"/>
          </a:xfrm>
          <a:prstGeom prst="rect">
            <a:avLst/>
          </a:prstGeom>
          <a:solidFill>
            <a:srgbClr val="2A4F7C"/>
          </a:solidFill>
          <a:ln w="12700">
            <a:solidFill>
              <a:srgbClr val="2A4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06624" y="132588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payer_code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85232" y="13258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5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36208" y="132588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— entirely absent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606040" y="1737360"/>
            <a:ext cx="62636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606040" y="1737360"/>
            <a:ext cx="36576" cy="438912"/>
          </a:xfrm>
          <a:prstGeom prst="rect">
            <a:avLst/>
          </a:prstGeom>
          <a:solidFill>
            <a:srgbClr val="C8511B"/>
          </a:solidFill>
          <a:ln w="12700">
            <a:solidFill>
              <a:srgbClr val="C85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06624" y="180136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85232" y="180136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5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97.38%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36208" y="180136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— clinically unreliable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606040" y="2212848"/>
            <a:ext cx="6263640" cy="438912"/>
          </a:xfrm>
          <a:prstGeom prst="rect">
            <a:avLst/>
          </a:prstGeom>
          <a:solidFill>
            <a:srgbClr val="F2EFE6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606040" y="2212848"/>
            <a:ext cx="36576" cy="438912"/>
          </a:xfrm>
          <a:prstGeom prst="rect">
            <a:avLst/>
          </a:prstGeom>
          <a:solidFill>
            <a:srgbClr val="2A4F7C"/>
          </a:solidFill>
          <a:ln w="12700">
            <a:solidFill>
              <a:srgbClr val="2A4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06624" y="2276856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max_glu_serum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85232" y="227685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5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92.14%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36208" y="227685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— insufficient data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606040" y="2688336"/>
            <a:ext cx="62636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606040" y="2688336"/>
            <a:ext cx="36576" cy="438912"/>
          </a:xfrm>
          <a:prstGeom prst="rect">
            <a:avLst/>
          </a:prstGeom>
          <a:solidFill>
            <a:srgbClr val="C8511B"/>
          </a:solidFill>
          <a:ln w="12700">
            <a:solidFill>
              <a:srgbClr val="C85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06624" y="275234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A1Cresult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285232" y="275234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5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80.22%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36208" y="275234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— insufficient data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606040" y="3163824"/>
            <a:ext cx="6263640" cy="438912"/>
          </a:xfrm>
          <a:prstGeom prst="rect">
            <a:avLst/>
          </a:prstGeom>
          <a:solidFill>
            <a:srgbClr val="F2EFE6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606040" y="3163824"/>
            <a:ext cx="36576" cy="438912"/>
          </a:xfrm>
          <a:prstGeom prst="rect">
            <a:avLst/>
          </a:prstGeom>
          <a:solidFill>
            <a:srgbClr val="2A4F7C"/>
          </a:solidFill>
          <a:ln w="12700">
            <a:solidFill>
              <a:srgbClr val="2A4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706624" y="3227832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medical_specialty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285232" y="32278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5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31.78%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236208" y="322783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as NaN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606040" y="3639312"/>
            <a:ext cx="62636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606040" y="3639312"/>
            <a:ext cx="36576" cy="438912"/>
          </a:xfrm>
          <a:prstGeom prst="rect">
            <a:avLst/>
          </a:prstGeom>
          <a:solidFill>
            <a:srgbClr val="C8511B"/>
          </a:solidFill>
          <a:ln w="12700">
            <a:solidFill>
              <a:srgbClr val="C85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706624" y="370332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285232" y="37033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5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2.01%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236208" y="370332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 rows dropped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2606040" y="4279392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5,424 rows × 47 columns  ·  gender 'Unknown/Invalid' also removed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621792"/>
          </a:xfrm>
          <a:prstGeom prst="rect">
            <a:avLst/>
          </a:prstGeom>
          <a:solidFill>
            <a:srgbClr val="C8511B"/>
          </a:solidFill>
          <a:ln w="12700">
            <a:solidFill>
              <a:srgbClr val="C85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1440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Descriptive Statistics — Numerical Features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91440"/>
            <a:ext cx="8823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5,424 records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2176272" cy="329184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749808"/>
            <a:ext cx="2112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42032" y="749808"/>
            <a:ext cx="731520" cy="329184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06040" y="749808"/>
            <a:ext cx="667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10128" y="749808"/>
            <a:ext cx="731520" cy="329184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74136" y="749808"/>
            <a:ext cx="667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78224" y="749808"/>
            <a:ext cx="731520" cy="329184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42232" y="749808"/>
            <a:ext cx="667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749808"/>
            <a:ext cx="731520" cy="329184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10328" y="749808"/>
            <a:ext cx="667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14416" y="749808"/>
            <a:ext cx="731520" cy="329184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78424" y="749808"/>
            <a:ext cx="667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82512" y="749808"/>
            <a:ext cx="2423160" cy="329184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46520" y="749808"/>
            <a:ext cx="2359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1078992"/>
            <a:ext cx="8485632" cy="429768"/>
          </a:xfrm>
          <a:prstGeom prst="rect">
            <a:avLst/>
          </a:prstGeom>
          <a:solidFill>
            <a:srgbClr val="FBF0C0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1078992"/>
            <a:ext cx="45720" cy="429768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" y="1152144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Lab Procedures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06040" y="11521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47.58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74136" y="11521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17.99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42232" y="11521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10328" y="11521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78424" y="11521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-0.09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46520" y="115214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Near-normal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1536192"/>
            <a:ext cx="8485632" cy="429768"/>
          </a:xfrm>
          <a:prstGeom prst="rect">
            <a:avLst/>
          </a:prstGeom>
          <a:solidFill>
            <a:srgbClr val="FBF0C0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0040" y="1536192"/>
            <a:ext cx="45720" cy="429768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4048" y="1609344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Medications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606040" y="16093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74136" y="16093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42232" y="16093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10328" y="16093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78424" y="16093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46520" y="160934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1993392"/>
            <a:ext cx="8485632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84048" y="2066544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 Hospital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606040" y="20665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4.68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374136" y="20665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3.13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142232" y="20665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910328" y="20665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678424" y="20665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46520" y="206654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2450592"/>
            <a:ext cx="8485632" cy="429768"/>
          </a:xfrm>
          <a:prstGeom prst="rect">
            <a:avLst/>
          </a:prstGeom>
          <a:solidFill>
            <a:srgbClr val="F2EFE6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84048" y="2523744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Procedures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606040" y="25237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1.51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374136" y="25237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1.78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142232" y="25237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910328" y="25237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678424" y="25237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1.12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446520" y="252374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2907792"/>
            <a:ext cx="8485632" cy="429768"/>
          </a:xfrm>
          <a:prstGeom prst="rect">
            <a:avLst/>
          </a:prstGeom>
          <a:solidFill>
            <a:srgbClr val="FBF0C0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320040" y="2907792"/>
            <a:ext cx="45720" cy="429768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84048" y="2980944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Inpatient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606040" y="29809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374136" y="29809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142232" y="29809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910328" y="29809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678424" y="29809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3.86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446520" y="298094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outliers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20040" y="3364992"/>
            <a:ext cx="8485632" cy="429768"/>
          </a:xfrm>
          <a:prstGeom prst="rect">
            <a:avLst/>
          </a:prstGeom>
          <a:solidFill>
            <a:srgbClr val="F2EFE6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84048" y="3438144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Diagnoses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2606040" y="34381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6.76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3374136" y="34381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2.08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142232" y="34381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910328" y="34381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5678424" y="34381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-0.62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446520" y="343814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Near-normal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20040" y="3822192"/>
            <a:ext cx="8485632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384048" y="3895344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Outpatient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2606040" y="38953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3374136" y="38953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4142232" y="38953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4910328" y="38953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5678424" y="38953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14.66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6446520" y="389534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skew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20040" y="4279392"/>
            <a:ext cx="8485632" cy="429768"/>
          </a:xfrm>
          <a:prstGeom prst="rect">
            <a:avLst/>
          </a:prstGeom>
          <a:solidFill>
            <a:srgbClr val="F2EFE6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84048" y="4352544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Emergency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2606040" y="43525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3374136" y="43525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4142232" y="43525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4910328" y="43525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5678424" y="43525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17.36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6446520" y="435254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skew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rows = key predictors. Extreme skew in outpatient/emergency features — log-transform before modeling.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62179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1440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1 — Readmission Distribution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91440"/>
            <a:ext cx="8823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 ·  5,424 patients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674473949"/>
              </p:ext>
            </p:extLst>
          </p:nvPr>
        </p:nvGraphicFramePr>
        <p:xfrm>
          <a:off x="320040" y="777240"/>
          <a:ext cx="5074920" cy="3493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822960"/>
            <a:ext cx="3108960" cy="1060704"/>
          </a:xfrm>
          <a:prstGeom prst="rect">
            <a:avLst/>
          </a:prstGeom>
          <a:solidFill>
            <a:srgbClr val="F2EFE6"/>
          </a:solidFill>
          <a:ln w="1270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669280" y="822960"/>
            <a:ext cx="3108960" cy="54864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79008" y="93268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53.9%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779008" y="14447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~2,923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059168" y="93268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readmitted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0" y="2011680"/>
            <a:ext cx="3108960" cy="1060704"/>
          </a:xfrm>
          <a:prstGeom prst="rect">
            <a:avLst/>
          </a:prstGeom>
          <a:solidFill>
            <a:srgbClr val="F2EFE6"/>
          </a:solidFill>
          <a:ln w="1270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669280" y="2011680"/>
            <a:ext cx="3108960" cy="54864"/>
          </a:xfrm>
          <a:prstGeom prst="rect">
            <a:avLst/>
          </a:prstGeom>
          <a:solidFill>
            <a:srgbClr val="2A4F7C"/>
          </a:solidFill>
          <a:ln w="12700">
            <a:solidFill>
              <a:srgbClr val="2A4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779008" y="212140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4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34.9%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779008" y="26334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~1,893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059168" y="212140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Readmitted &gt; 30 days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669280" y="3200400"/>
            <a:ext cx="3108960" cy="1060704"/>
          </a:xfrm>
          <a:prstGeom prst="rect">
            <a:avLst/>
          </a:prstGeom>
          <a:solidFill>
            <a:srgbClr val="F5DDD0"/>
          </a:solidFill>
          <a:ln w="1270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669280" y="3200400"/>
            <a:ext cx="3108960" cy="54864"/>
          </a:xfrm>
          <a:prstGeom prst="rect">
            <a:avLst/>
          </a:prstGeom>
          <a:solidFill>
            <a:srgbClr val="C8511B"/>
          </a:solidFill>
          <a:ln w="12700">
            <a:solidFill>
              <a:srgbClr val="C85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779008" y="331012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85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11.2%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5779008" y="38221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~608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059168" y="331012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 &lt; 30 days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0040" y="4389120"/>
            <a:ext cx="8485632" cy="493776"/>
          </a:xfrm>
          <a:prstGeom prst="rect">
            <a:avLst/>
          </a:prstGeom>
          <a:solidFill>
            <a:srgbClr val="FBF0C0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57200" y="44165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patients with more prior inpatient visits, higher medication counts, and longer stays are significantly more likely to fall in the high-risk group.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621792"/>
          </a:xfrm>
          <a:prstGeom prst="rect">
            <a:avLst/>
          </a:prstGeom>
          <a:solidFill>
            <a:srgbClr val="C8511B"/>
          </a:solidFill>
          <a:ln w="12700">
            <a:solidFill>
              <a:srgbClr val="C85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1440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2 — Patient Demographics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91440"/>
            <a:ext cx="8823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Race, gender &amp; age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749808"/>
          <a:ext cx="370332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>
            <p:extLst>
              <p:ext uri="{D42A27DB-BD31-4B8C-83A1-F6EECF244321}">
                <p14:modId xmlns:p14="http://schemas.microsoft.com/office/powerpoint/2010/main" val="681393338"/>
              </p:ext>
            </p:extLst>
          </p:nvPr>
        </p:nvGraphicFramePr>
        <p:xfrm>
          <a:off x="4187952" y="749808"/>
          <a:ext cx="4636008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20040" y="3675888"/>
            <a:ext cx="20848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320040" y="3675888"/>
            <a:ext cx="2084832" cy="45720"/>
          </a:xfrm>
          <a:prstGeom prst="rect">
            <a:avLst/>
          </a:prstGeom>
          <a:solidFill>
            <a:srgbClr val="C8511B"/>
          </a:solidFill>
          <a:ln w="12700">
            <a:solidFill>
              <a:srgbClr val="C85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29768" y="3749040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13.42%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29768" y="4187952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80–90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496312" y="3675888"/>
            <a:ext cx="20848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2496312" y="3675888"/>
            <a:ext cx="2084832" cy="45720"/>
          </a:xfrm>
          <a:prstGeom prst="rect">
            <a:avLst/>
          </a:prstGeom>
          <a:solidFill>
            <a:srgbClr val="2A4F7C"/>
          </a:solidFill>
          <a:ln w="12700">
            <a:solidFill>
              <a:srgbClr val="2A4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606040" y="3749040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2.17%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2606040" y="4187952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risk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0–10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672584" y="3675888"/>
            <a:ext cx="20848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672584" y="3675888"/>
            <a:ext cx="2084832" cy="457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782312" y="3749040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~75%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4782312" y="4187952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Caucasian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flag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848856" y="3675888"/>
            <a:ext cx="20848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848856" y="3675888"/>
            <a:ext cx="2084832" cy="457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958584" y="3749040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60–80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6958584" y="4187952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volume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62179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1440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3 — Medications &amp; Clinical Patterns</a:t>
            </a:r>
            <a:endParaRPr lang="en-US" sz="1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749808"/>
          <a:ext cx="33832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3931920" y="749808"/>
          <a:ext cx="48920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320040" y="3182112"/>
            <a:ext cx="2084832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320040" y="3182112"/>
            <a:ext cx="2084832" cy="45720"/>
          </a:xfrm>
          <a:prstGeom prst="rect">
            <a:avLst/>
          </a:prstGeom>
          <a:solidFill>
            <a:srgbClr val="C8511B"/>
          </a:solidFill>
          <a:ln w="12700">
            <a:solidFill>
              <a:srgbClr val="C85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429768" y="3291840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46.2% had a medication change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29768" y="3749040"/>
            <a:ext cx="190195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of all patients had their regimen modified during their stay — a significant and underused risk signal.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496312" y="3182112"/>
            <a:ext cx="2084832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2496312" y="3182112"/>
            <a:ext cx="2084832" cy="45720"/>
          </a:xfrm>
          <a:prstGeom prst="rect">
            <a:avLst/>
          </a:prstGeom>
          <a:solidFill>
            <a:srgbClr val="2A4F7C"/>
          </a:solidFill>
          <a:ln w="12700">
            <a:solidFill>
              <a:srgbClr val="2A4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606040" y="3291840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is the top medication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606040" y="3749040"/>
            <a:ext cx="190195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prescribed drug in the dataset. High-risk patients carry a greater total medication burden — mean 14.74, max 62.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672584" y="3182112"/>
            <a:ext cx="2084832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672584" y="3182112"/>
            <a:ext cx="2084832" cy="45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782312" y="3291840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Circulatory disease leads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782312" y="3749040"/>
            <a:ext cx="190195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primary diagnosis group — consistent with an older diabetic patient population managing multiple comorbidities.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848856" y="3182112"/>
            <a:ext cx="2084832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848856" y="3182112"/>
            <a:ext cx="2084832" cy="457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958584" y="3291840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correlation found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958584" y="3749040"/>
            <a:ext cx="190195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num_medications and num_lab_procedures are the most strongly positively correlated features in the dataset.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621792"/>
          </a:xfrm>
          <a:prstGeom prst="rect">
            <a:avLst/>
          </a:prstGeom>
          <a:solidFill>
            <a:srgbClr val="C8511B"/>
          </a:solidFill>
          <a:ln w="12700">
            <a:solidFill>
              <a:srgbClr val="C85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1440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4 — Outlier Detection &amp; Admission Patterns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91440"/>
            <a:ext cx="8823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Outlier summary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161288"/>
            <a:ext cx="5650992" cy="393192"/>
          </a:xfrm>
          <a:prstGeom prst="rect">
            <a:avLst/>
          </a:prstGeom>
          <a:solidFill>
            <a:srgbClr val="0D1B2A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02336" y="1216152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04288" y="121615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18688" y="121615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Data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33088" y="1216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581912"/>
            <a:ext cx="5650992" cy="393192"/>
          </a:xfrm>
          <a:prstGeom prst="rect">
            <a:avLst/>
          </a:prstGeom>
          <a:solidFill>
            <a:srgbClr val="F2EFE6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2336" y="1636776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number_inpatient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04288" y="1636776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18688" y="1636776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5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33088" y="16367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— cap at 95th percentile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002536"/>
            <a:ext cx="56509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2336" y="2057400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time_in_hospital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04288" y="20574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18688" y="20574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5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2.69%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33088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— cap before modeling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423160"/>
            <a:ext cx="5650992" cy="393192"/>
          </a:xfrm>
          <a:prstGeom prst="rect">
            <a:avLst/>
          </a:prstGeom>
          <a:solidFill>
            <a:srgbClr val="F2EFE6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2336" y="2478024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number_outpatient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04288" y="247802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18688" y="247802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5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2.58%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33088" y="2478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  (skew 14.66)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2843784"/>
            <a:ext cx="56509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02336" y="2898648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num_medications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04288" y="289864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18688" y="289864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5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2.23%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33088" y="28986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— cap before modeling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264408"/>
            <a:ext cx="5650992" cy="393192"/>
          </a:xfrm>
          <a:prstGeom prst="rect">
            <a:avLst/>
          </a:prstGeom>
          <a:solidFill>
            <a:srgbClr val="F2EFE6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02336" y="3319272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number_emergency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04288" y="331927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18688" y="331927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5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2.16%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33088" y="33192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  (skew 17.36)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3685032"/>
            <a:ext cx="56509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02336" y="3739896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num_lab_procedures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304288" y="3739896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18688" y="3739896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33088" y="37398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needed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4105656"/>
            <a:ext cx="5650992" cy="393192"/>
          </a:xfrm>
          <a:prstGeom prst="rect">
            <a:avLst/>
          </a:prstGeom>
          <a:solidFill>
            <a:srgbClr val="F2EFE6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02336" y="4160520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num_procedures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304288" y="41605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18688" y="41605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133088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— no outliers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" y="4526280"/>
            <a:ext cx="56509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0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02336" y="4581144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number_diagnoses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304288" y="458114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218688" y="458114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0.00%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133088" y="45811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— no outliers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199632" y="77724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Admission type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199632" y="1207008"/>
            <a:ext cx="2633472" cy="841248"/>
          </a:xfrm>
          <a:prstGeom prst="rect">
            <a:avLst/>
          </a:prstGeom>
          <a:solidFill>
            <a:srgbClr val="F5DDD0"/>
          </a:solidFill>
          <a:ln w="12700">
            <a:solidFill>
              <a:srgbClr val="C85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199632" y="1207008"/>
            <a:ext cx="2633472" cy="45720"/>
          </a:xfrm>
          <a:prstGeom prst="rect">
            <a:avLst/>
          </a:prstGeom>
          <a:solidFill>
            <a:srgbClr val="C8511B"/>
          </a:solidFill>
          <a:ln w="12700">
            <a:solidFill>
              <a:srgbClr val="C85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309360" y="12984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Emergency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309360" y="1627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group — higher readmission rates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199632" y="2212848"/>
            <a:ext cx="2633472" cy="841248"/>
          </a:xfrm>
          <a:prstGeom prst="rect">
            <a:avLst/>
          </a:prstGeom>
          <a:solidFill>
            <a:srgbClr val="F2EFE6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199632" y="2212848"/>
            <a:ext cx="2633472" cy="457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309360" y="23042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Elective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309360" y="26334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admissions — generally lower risk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199632" y="3218688"/>
            <a:ext cx="2633472" cy="841248"/>
          </a:xfrm>
          <a:prstGeom prst="rect">
            <a:avLst/>
          </a:prstGeom>
          <a:solidFill>
            <a:srgbClr val="FBF0C0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199632" y="3218688"/>
            <a:ext cx="2633472" cy="457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309360" y="33101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Urgent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309360" y="36393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risk profile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199632" y="4224528"/>
            <a:ext cx="2633472" cy="658368"/>
          </a:xfrm>
          <a:prstGeom prst="rect">
            <a:avLst/>
          </a:prstGeom>
          <a:solidFill>
            <a:srgbClr val="FBF0C0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309360" y="42976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correlation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309360" y="453542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num_medications ↔ num_lab_procedures — strongest positive correlation in the dataset.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C8511B"/>
          </a:solidFill>
          <a:ln w="12700">
            <a:solidFill>
              <a:srgbClr val="C85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 &amp; Next Steps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4114800" cy="1719072"/>
          </a:xfrm>
          <a:prstGeom prst="rect">
            <a:avLst/>
          </a:prstGeom>
          <a:solidFill>
            <a:srgbClr val="1C3557"/>
          </a:solidFill>
          <a:ln w="12700">
            <a:solidFill>
              <a:srgbClr val="2A4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886968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C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76072" y="1527048"/>
            <a:ext cx="3749040" cy="20117"/>
          </a:xfrm>
          <a:prstGeom prst="rect">
            <a:avLst/>
          </a:prstGeom>
          <a:solidFill>
            <a:srgbClr val="2A4F7C"/>
          </a:solidFill>
          <a:ln w="12700">
            <a:solidFill>
              <a:srgbClr val="2A4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6072" y="1600200"/>
            <a:ext cx="3767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target encoding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892808"/>
            <a:ext cx="3767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Re-encode readmitted: &lt;30 days = 1 (high risk), all others = 0. EDA confirms ~11.2% minority class — approximately 608 patients in this sample.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4114800" cy="1719072"/>
          </a:xfrm>
          <a:prstGeom prst="rect">
            <a:avLst/>
          </a:prstGeom>
          <a:solidFill>
            <a:srgbClr val="1C3557"/>
          </a:solidFill>
          <a:ln w="12700">
            <a:solidFill>
              <a:srgbClr val="2A4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19472" y="886968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C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919472" y="1527048"/>
            <a:ext cx="3749040" cy="20117"/>
          </a:xfrm>
          <a:prstGeom prst="rect">
            <a:avLst/>
          </a:prstGeom>
          <a:solidFill>
            <a:srgbClr val="2A4F7C"/>
          </a:solidFill>
          <a:ln w="12700">
            <a:solidFill>
              <a:srgbClr val="2A4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9472" y="1600200"/>
            <a:ext cx="3767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class imbalance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892808"/>
            <a:ext cx="3767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SMOTE or class_weight='balanced'. A naive model predicting no readmission for every patient achieves ~89% accuracy — clinically useless.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697480"/>
            <a:ext cx="4114800" cy="1719072"/>
          </a:xfrm>
          <a:prstGeom prst="rect">
            <a:avLst/>
          </a:prstGeom>
          <a:solidFill>
            <a:srgbClr val="1C3557"/>
          </a:solidFill>
          <a:ln w="12700">
            <a:solidFill>
              <a:srgbClr val="2A4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6072" y="2807208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C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576072" y="3447288"/>
            <a:ext cx="3749040" cy="20117"/>
          </a:xfrm>
          <a:prstGeom prst="rect">
            <a:avLst/>
          </a:prstGeom>
          <a:solidFill>
            <a:srgbClr val="2A4F7C"/>
          </a:solidFill>
          <a:ln w="12700">
            <a:solidFill>
              <a:srgbClr val="2A4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6072" y="3520440"/>
            <a:ext cx="3767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priority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072" y="3813048"/>
            <a:ext cx="3767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num_medications (mean 14.74), num_lab_procedures (mean 47.58), number_inpatient (skew 3.86). Log-transform the extreme skew features.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697480"/>
            <a:ext cx="4114800" cy="1719072"/>
          </a:xfrm>
          <a:prstGeom prst="rect">
            <a:avLst/>
          </a:prstGeom>
          <a:solidFill>
            <a:srgbClr val="1C3557"/>
          </a:solidFill>
          <a:ln w="12700">
            <a:solidFill>
              <a:srgbClr val="2A4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19472" y="2807208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C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4919472" y="3447288"/>
            <a:ext cx="3749040" cy="20117"/>
          </a:xfrm>
          <a:prstGeom prst="rect">
            <a:avLst/>
          </a:prstGeom>
          <a:solidFill>
            <a:srgbClr val="2A4F7C"/>
          </a:solidFill>
          <a:ln w="12700">
            <a:solidFill>
              <a:srgbClr val="2A4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19472" y="3520440"/>
            <a:ext cx="3767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9472" y="3813048"/>
            <a:ext cx="3767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readmission rate by age — highlight 80–90 at 13.42%. Surface the 46.2% medication change flag and circulatory disease as the lead diagnosis.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0" cy="1463040"/>
          </a:xfrm>
          <a:prstGeom prst="rect">
            <a:avLst/>
          </a:prstGeom>
          <a:solidFill>
            <a:srgbClr val="C8511B"/>
          </a:solidFill>
          <a:ln w="12700">
            <a:solidFill>
              <a:srgbClr val="C85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60" y="7315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Conclu-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" y="71323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37160" y="16002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C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ReadmitGuard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2C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" y="2395728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 · 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" y="3154680"/>
            <a:ext cx="2697480" cy="20117"/>
          </a:xfrm>
          <a:prstGeom prst="rect">
            <a:avLst/>
          </a:prstGeom>
          <a:solidFill>
            <a:srgbClr val="4A6E96"/>
          </a:solidFill>
          <a:ln w="12700">
            <a:solidFill>
              <a:srgbClr val="4A6E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" y="32461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C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11.2%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" y="354787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patients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37160" y="37947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C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13.42%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" y="409651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rate — ages 80–90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37160" y="43434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C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46.2%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" y="464515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medication change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01568" y="256032"/>
            <a:ext cx="45720" cy="658368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66160" y="256032"/>
            <a:ext cx="5257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conducted on 5,535 records — 5,424 after cleaning — across 50 features spanning demographics, medications, diagnoses, and clinical history.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01568" y="1207008"/>
            <a:ext cx="45720" cy="658368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66160" y="1207008"/>
            <a:ext cx="5257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 of patients (~608) were readmitted within 30 days. 53.9% not readmitted, 34.9% after 30 days — a class imbalance requiring SMOTE.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01568" y="2157984"/>
            <a:ext cx="45720" cy="658368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66160" y="2157984"/>
            <a:ext cx="5257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80–90 carry the highest readmission rate at 13.42%. Dataset is ~75% Caucasian — a fairness consideration before clinical deployment.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01568" y="3108960"/>
            <a:ext cx="45720" cy="658368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66160" y="3108960"/>
            <a:ext cx="5257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46.2% of patients had a medication change during their stay. num_medications and num_lab_procedures are the most strongly correlated features.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01568" y="4059936"/>
            <a:ext cx="45720" cy="658368"/>
          </a:xfrm>
          <a:prstGeom prst="rect">
            <a:avLst/>
          </a:prstGeom>
          <a:solidFill>
            <a:srgbClr val="C8511B"/>
          </a:solidFill>
          <a:ln w="12700">
            <a:solidFill>
              <a:srgbClr val="C851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66160" y="4059936"/>
            <a:ext cx="5257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binary classification with SMOTE — prioritizing num_medications, num_lab_procedures, number_inpatient, and time_in_hospital.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29000" cy="2286000"/>
          </a:xfrm>
          <a:prstGeom prst="rect">
            <a:avLst/>
          </a:prstGeom>
          <a:solidFill>
            <a:srgbClr val="C85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590288"/>
            <a:ext cx="9144000" cy="553212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3063240" cy="9144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3800" b="1">
                <a:solidFill>
                  <a:srgbClr val="FFFFFF"/>
                </a:solidFill>
                <a:latin typeface="Georgia"/>
              </a:rPr>
              <a:t>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928116"/>
            <a:ext cx="3063240" cy="10058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3800" b="1">
                <a:solidFill>
                  <a:srgbClr val="FFFFFF"/>
                </a:solidFill>
                <a:latin typeface="Georgia"/>
              </a:rPr>
              <a:t>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2450592"/>
            <a:ext cx="2743200" cy="18288"/>
          </a:xfrm>
          <a:prstGeom prst="rect">
            <a:avLst/>
          </a:prstGeom>
          <a:solidFill>
            <a:srgbClr val="4A6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" y="2505456"/>
            <a:ext cx="3017520" cy="43891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lang="en-US" sz="1800" b="1">
                <a:solidFill>
                  <a:srgbClr val="F2C94C"/>
                </a:solidFill>
                <a:latin typeface="Georgia"/>
              </a:rPr>
              <a:t>Thank You!</a:t>
            </a:r>
            <a:endParaRPr sz="1800" b="1">
              <a:solidFill>
                <a:srgbClr val="F2C94C"/>
              </a:solidFill>
              <a:latin typeface="Georgi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1168" y="2980944"/>
            <a:ext cx="2743200" cy="18288"/>
          </a:xfrm>
          <a:prstGeom prst="rect">
            <a:avLst/>
          </a:prstGeom>
          <a:solidFill>
            <a:srgbClr val="4A6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1168" y="3054096"/>
            <a:ext cx="3017520" cy="36576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200" b="0">
                <a:solidFill>
                  <a:srgbClr val="9CB0CC"/>
                </a:solidFill>
                <a:latin typeface="Calibri"/>
              </a:rPr>
              <a:t>njelaji@gmail.com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3547872"/>
            <a:ext cx="3017520" cy="34747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100" b="1">
                <a:solidFill>
                  <a:srgbClr val="F2C94C"/>
                </a:solidFill>
                <a:latin typeface="Georgia"/>
              </a:rPr>
              <a:t>ReadmitGuard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3895344"/>
            <a:ext cx="3017520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9CB0CC"/>
                </a:solidFill>
                <a:latin typeface="Calibri"/>
              </a:rPr>
              <a:t>Data Analytics Capstone ·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663440"/>
            <a:ext cx="4114800" cy="384048"/>
          </a:xfrm>
          <a:prstGeom prst="rect">
            <a:avLst/>
          </a:prstGeom>
          <a:noFill/>
        </p:spPr>
        <p:txBody>
          <a:bodyPr wrap="none"/>
          <a:lstStyle/>
          <a:p>
            <a:r>
              <a:rPr lang="en-US" sz="1300" b="1">
                <a:solidFill>
                  <a:srgbClr val="0D1B2A"/>
                </a:solidFill>
                <a:latin typeface="Georgia"/>
              </a:rPr>
              <a:t>https://www.linkedin.com/in/njelaji/</a:t>
            </a:r>
            <a:endParaRPr sz="1300" b="1">
              <a:solidFill>
                <a:srgbClr val="0D1B2A"/>
              </a:solidFill>
              <a:latin typeface="Georgi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54880" y="4663440"/>
            <a:ext cx="4069080" cy="384048"/>
          </a:xfrm>
          <a:prstGeom prst="rect">
            <a:avLst/>
          </a:prstGeom>
          <a:noFill/>
        </p:spPr>
        <p:txBody>
          <a:bodyPr wrap="none"/>
          <a:lstStyle/>
          <a:p>
            <a:pPr algn="r"/>
            <a:endParaRPr sz="1200" b="0">
              <a:solidFill>
                <a:srgbClr val="1C3557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1404</TotalTime>
  <Words>933</Words>
  <Application>Microsoft Macintosh PowerPoint</Application>
  <PresentationFormat>On-screen Show (16:9)</PresentationFormat>
  <Paragraphs>255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Nikhil Jelaji</cp:lastModifiedBy>
  <cp:revision>2</cp:revision>
  <dcterms:created xsi:type="dcterms:W3CDTF">2026-05-27T01:52:55Z</dcterms:created>
  <dcterms:modified xsi:type="dcterms:W3CDTF">2026-05-28T14:09:31Z</dcterms:modified>
</cp:coreProperties>
</file>