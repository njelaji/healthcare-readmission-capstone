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342"/>
                </a:solidFill>
                <a:latin typeface="Arial"/>
              </a:rPr>
              <a:t>% of 101,766 Patients by Readmission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Not Readmitted</c:v>
                  </c:pt>
                  <c:pt idx="1">
                    <c:v>Readmitted
&gt;30 Days</c:v>
                  </c:pt>
                  <c:pt idx="2">
                    <c:v>Readmitted
&lt;30 Days (HIGH RISK)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53.9</c:v>
                </c:pt>
                <c:pt idx="1">
                  <c:v>34.9</c:v>
                </c:pt>
                <c:pt idx="2">
                  <c:v>11.2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342"/>
                </a:solidFill>
                <a:latin typeface="Arial"/>
              </a:rPr>
              <a:t>30-Day Readmission Rate by Prior Inpatient Visits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Readmission Rate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234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 Prior
Inpatient Visits</c:v>
                  </c:pt>
                  <c:pt idx="1">
                    <c:v>1 Prior
Inpatient Visit</c:v>
                  </c:pt>
                  <c:pt idx="2">
                    <c:v>2–3 Prior
Inpatient Visits</c:v>
                  </c:pt>
                  <c:pt idx="3">
                    <c:v>4+ Prior
Inpatient Visits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</c:v>
                </c:pt>
                <c:pt idx="1">
                  <c:v>12.9</c:v>
                </c:pt>
                <c:pt idx="2">
                  <c:v>18.3</c:v>
                </c:pt>
                <c:pt idx="3">
                  <c:v>30.7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30-Day Readmission Rate by Age Group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Readmission Rate (%)</c:v>
                </c:pt>
              </c:strCache>
            </c:strRef>
          </c:tx>
          <c:spPr>
            <a:solidFill>
              <a:srgbClr val="0A2342"/>
            </a:solidFill>
            <a:ln w="38100" cap="flat">
              <a:solidFill>
                <a:srgbClr val="0A23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23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2342"/>
              </a:solidFill>
              <a:ln w="9525" cap="flat">
                <a:solidFill>
                  <a:srgbClr val="0A23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0-10</c:v>
                  </c:pt>
                  <c:pt idx="1">
                    <c:v>10-20</c:v>
                  </c:pt>
                  <c:pt idx="2">
                    <c:v>20-30</c:v>
                  </c:pt>
                  <c:pt idx="3">
                    <c:v>30-40</c:v>
                  </c:pt>
                  <c:pt idx="4">
                    <c:v>40-50</c:v>
                  </c:pt>
                  <c:pt idx="5">
                    <c:v>50-60</c:v>
                  </c:pt>
                  <c:pt idx="6">
                    <c:v>60-70</c:v>
                  </c:pt>
                  <c:pt idx="7">
                    <c:v>70-80</c:v>
                  </c:pt>
                  <c:pt idx="8">
                    <c:v>80-90</c:v>
                  </c:pt>
                  <c:pt idx="9">
                    <c:v>90-100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1.9</c:v>
                </c:pt>
                <c:pt idx="1">
                  <c:v>5.8</c:v>
                </c:pt>
                <c:pt idx="2">
                  <c:v>14.2</c:v>
                </c:pt>
                <c:pt idx="3">
                  <c:v>11.2</c:v>
                </c:pt>
                <c:pt idx="4">
                  <c:v>10.6</c:v>
                </c:pt>
                <c:pt idx="5">
                  <c:v>9.7</c:v>
                </c:pt>
                <c:pt idx="6">
                  <c:v>11.1</c:v>
                </c:pt>
                <c:pt idx="7">
                  <c:v>11.8</c:v>
                </c:pt>
                <c:pt idx="8">
                  <c:v>12.1</c:v>
                </c:pt>
                <c:pt idx="9">
                  <c:v>11.1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23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2342"/>
                </a:solidFill>
                <a:latin typeface="Arial"/>
              </a:rPr>
              <a:t>Top Medications Prescribed (patient 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 Prescribed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23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Insulin</c:v>
                  </c:pt>
                  <c:pt idx="1">
                    <c:v>Metformin</c:v>
                  </c:pt>
                  <c:pt idx="2">
                    <c:v>Glipizide</c:v>
                  </c:pt>
                  <c:pt idx="3">
                    <c:v>Glyburide</c:v>
                  </c:pt>
                  <c:pt idx="4">
                    <c:v>Glimepiride</c:v>
                  </c:pt>
                  <c:pt idx="5">
                    <c:v>Pioglitazone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54383</c:v>
                </c:pt>
                <c:pt idx="1">
                  <c:v>19988</c:v>
                </c:pt>
                <c:pt idx="2">
                  <c:v>12686</c:v>
                </c:pt>
                <c:pt idx="3">
                  <c:v>10650</c:v>
                </c:pt>
                <c:pt idx="4">
                  <c:v>5191</c:v>
                </c:pt>
                <c:pt idx="5">
                  <c:v>7328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"/>
            <a:ext cx="1371600" cy="1371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502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101,766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0" y="10332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Patient Encounters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092440" y="320040"/>
            <a:ext cx="1371600" cy="1371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502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50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92440" y="10332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 Features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Patient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Prediction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High-Risk Diabetic Patients Before Discharge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ReadmitGuard Analytics  |  Data Analytics Capstone  | 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2651760" cy="1463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50215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3858768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30-day readmissions via early risk flagging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429000"/>
            <a:ext cx="2651760" cy="1463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350215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3858768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Diabetes 130-US Hospitals (1999–2008)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429000"/>
            <a:ext cx="2651760" cy="1463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350215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1928" y="3858768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Seaborn · Tableau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5394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91440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3327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Readmission Costs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362456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preventable readmission costs $15,000+ on average. In the US, preventable readmissions total ~$26B annually — a major target for cost reduction.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5394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30552"/>
            <a:ext cx="91440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0370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Flagging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53288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lack data-driven tools to identify high-risk patients at discharge. Without prediction, care is reactive rather than preventive.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00984"/>
            <a:ext cx="5394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00984"/>
            <a:ext cx="91440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74136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at Risk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7033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have complex medication regimens and comorbidities. Our dataset shows 11,357 patients (11.2%) returned within 30 days.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960120"/>
            <a:ext cx="2468880" cy="24688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813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63640" y="21214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preventable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3367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Objective: Use data from 101,766 diabetic patient encounters to identify predictors of 30-day readmission and build a framework for a real-time risk-flagging tool.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101,766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093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920240" cy="11887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14600" y="16093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16093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 1999–2008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960120"/>
            <a:ext cx="1920240" cy="11887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29400" y="16093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Hospitals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 — Diabetes 130-US Hospitals Dataset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 Breakdown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1272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182112"/>
            <a:ext cx="3200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182112"/>
            <a:ext cx="3089841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53.1%  (53,990)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47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3602736"/>
            <a:ext cx="3200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3602736"/>
            <a:ext cx="107649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  (18,869)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68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0" y="4023360"/>
            <a:ext cx="3200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0" y="4023360"/>
            <a:ext cx="1059041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968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  (18,480)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3891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Other/NOS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0" y="4443984"/>
            <a:ext cx="3200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4443984"/>
            <a:ext cx="593529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389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 (10,427)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651760"/>
            <a:ext cx="3840480" cy="228600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743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83480" y="32186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1729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96.9% missing → excluded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36027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35570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'?' values → treated as NaN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83480" y="39867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39410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identified &amp; removed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83480" y="43708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4325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ICD-9 codes mapped to disease categories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83480" y="47548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4709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2,273 records with unknown race flagged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#1: Readmission Distribution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804672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96112"/>
            <a:ext cx="2834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9601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52160" y="140817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(54,864)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84848" y="960120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Readmitted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84848" y="1426464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Discharged without early return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2066544"/>
            <a:ext cx="2834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21305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852160" y="257860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(35,545)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84848" y="2130552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&gt;30 Days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84848" y="2596896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returns — potentially preventable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06440" y="3236976"/>
            <a:ext cx="2834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52160" y="330098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852160" y="37490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(11,357)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84848" y="3300984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(&lt;30 Days)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784848" y="3767328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 — costly early returns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407408"/>
            <a:ext cx="8229600" cy="5303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43484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Patients with more prior inpatient visits, more medications, and longer stays are significantly more likely to be readmitted within 30 days.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#2: Prior Hospitalizations Drive Risk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804672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Multiplier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89320" y="1325880"/>
            <a:ext cx="2834640" cy="1325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44475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3.7×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89320" y="2029968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 for patients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4+ prior inpatient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vs. 0 visits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2788920"/>
            <a:ext cx="283464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prior inpatient visits: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30906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1.22  |  NOT: 0.38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3547872"/>
            <a:ext cx="2834640" cy="804672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3593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medications at discharge: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38404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16.9 meds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Readmitted: 15.7 meds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462272"/>
            <a:ext cx="539496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480560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Patients with 4+ prior inpatient visits represent only 3.6% of the dataset but account for a disproportionate share of 30-day readmissions.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#3: Demographics &amp; Medications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804672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" y="3794760"/>
          <a:ext cx="493776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623560" y="868680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715000" y="92354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Gender Split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0" y="12527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54,708 (53.8%)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47,055 (46.2%)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23560" y="1929384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715000" y="19842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Top Admission Type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715000" y="231343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Emergency: 53,990 (53.1%)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encounters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23560" y="299008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715000" y="30449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Medication Change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15000" y="337413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 of patients (47,011)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 med change during stay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23560" y="4050792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715000" y="41056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Top Primary Diagnosis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715000" y="44348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Circulatory: 30,437 (29.9%)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Respiratory: 14,423 (14.2%)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87552"/>
            <a:ext cx="4041648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62179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621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10424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 Encoding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858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Re-encode readmitted: &lt;30 days = 1 (high risk), all others = 0. Frames as binary classification; simplifies model evaluation.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5152" y="987552"/>
            <a:ext cx="4041648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987552"/>
            <a:ext cx="62179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987552"/>
            <a:ext cx="621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8384" y="10424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36592" y="1536192"/>
            <a:ext cx="3858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or class weighting. With only 11.2% (11,357) high-risk cases, naive models will predict NO readmission and appear accurate.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4041648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16352"/>
            <a:ext cx="62179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16352"/>
            <a:ext cx="621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4712" y="28712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Key 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364992"/>
            <a:ext cx="3858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on: number_inpatient (3.7× risk multiplier), num_medications (avg 16.9 vs 15.7), num_lab_procedures, time_in_hospital.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5152" y="2816352"/>
            <a:ext cx="4041648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5152" y="2816352"/>
            <a:ext cx="62179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2816352"/>
            <a:ext cx="621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58384" y="28712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Risk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36592" y="3364992"/>
            <a:ext cx="38587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model outputs into a Tableau dashboard showing risk by patient profile. Flag patients with 4+ inpatient visits for automatic review.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64008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15568"/>
            <a:ext cx="8092440" cy="5943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61288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101,766 diabetic patient encounters across 130+ US hospitals (1999–2008)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64008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47088"/>
            <a:ext cx="8092440" cy="5943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92808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 of patients (11,357) were readmitted within 30 days — the HIGH RISK group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64008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578608"/>
            <a:ext cx="8092440" cy="5943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24328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predictor: prior inpatient visits. Patients with 4+ prior visits have a 30.7% readmission rate — 3.7× higher than first-timers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10128"/>
            <a:ext cx="64008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310128"/>
            <a:ext cx="8092440" cy="5943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55848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 of patients had a medication change — a clinically significant and underutilized risk signal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64008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041648"/>
            <a:ext cx="8092440" cy="5943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87368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Apply Logistic Regression &amp; Random Forest with SMOTE to build a discharge-time risk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ReadmitGuard Analytics  |  Data Analytics Capstone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Patient Readmission Prediction</dc:title>
  <dc:subject>PptxGenJS Presentation</dc:subject>
  <dc:creator>PptxGenJS</dc:creator>
  <cp:lastModifiedBy>PptxGenJS</cp:lastModifiedBy>
  <cp:revision>1</cp:revision>
  <dcterms:created xsi:type="dcterms:W3CDTF">2026-05-26T18:19:32Z</dcterms:created>
  <dcterms:modified xsi:type="dcterms:W3CDTF">2026-05-26T18:19:32Z</dcterms:modified>
</cp:coreProperties>
</file>